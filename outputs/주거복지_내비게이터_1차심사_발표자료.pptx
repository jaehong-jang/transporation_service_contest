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db794e411416f" /><Relationship Type="http://schemas.openxmlformats.org/officeDocument/2006/relationships/extended-properties" Target="/docProps/app.xml" Id="R2f851367983846f4" /><Relationship Type="http://schemas.openxmlformats.org/officeDocument/2006/relationships/officeDocument" Target="/ppt/presentation.xml" Id="R6191ad5662f9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18443f54d64ec4"/>
  </p:sldMasterIdLst>
  <p:notesMasterIdLst>
    <p:notesMasterId xmlns:r="http://schemas.openxmlformats.org/officeDocument/2006/relationships" r:id="Reb33e721fb7948d8"/>
  </p:notesMasterIdLst>
  <p:sldIdLst>
    <p:sldId xmlns:r="http://schemas.openxmlformats.org/officeDocument/2006/relationships" id="256" r:id="Rf01b83221a504eb4"/>
    <p:sldId xmlns:r="http://schemas.openxmlformats.org/officeDocument/2006/relationships" id="257" r:id="Re26af5116d334a26"/>
    <p:sldId xmlns:r="http://schemas.openxmlformats.org/officeDocument/2006/relationships" id="258" r:id="R23b9a5c67a2e45a8"/>
    <p:sldId xmlns:r="http://schemas.openxmlformats.org/officeDocument/2006/relationships" id="259" r:id="R5daafb62c34b4b37"/>
    <p:sldId xmlns:r="http://schemas.openxmlformats.org/officeDocument/2006/relationships" id="260" r:id="R0a31415032304e1e"/>
    <p:sldId xmlns:r="http://schemas.openxmlformats.org/officeDocument/2006/relationships" id="261" r:id="R029b3fbc7f0942bc"/>
    <p:sldId xmlns:r="http://schemas.openxmlformats.org/officeDocument/2006/relationships" id="262" r:id="R7d56381ce66f4759"/>
    <p:sldId xmlns:r="http://schemas.openxmlformats.org/officeDocument/2006/relationships" id="263" r:id="Rde964188524745ab"/>
    <p:sldId xmlns:r="http://schemas.openxmlformats.org/officeDocument/2006/relationships" id="264" r:id="R4ce8ece09a4042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98ae696d0b43dd" /><Relationship Type="http://schemas.openxmlformats.org/officeDocument/2006/relationships/slideMaster" Target="/ppt/slideMasters/slideMaster1.xml" Id="Rab18443f54d64ec4" /><Relationship Type="http://schemas.openxmlformats.org/officeDocument/2006/relationships/notesMaster" Target="/ppt/notesMasters/notesMaster1.xml" Id="Reb33e721fb7948d8" /><Relationship Type="http://schemas.openxmlformats.org/officeDocument/2006/relationships/presProps" Target="/ppt/presProps.xml" Id="R92e4c2d4b5c94b37" /><Relationship Type="http://schemas.openxmlformats.org/officeDocument/2006/relationships/tableStyles" Target="/ppt/tableStyles.xml" Id="R0351d902202a49f0" /><Relationship Type="http://schemas.openxmlformats.org/officeDocument/2006/relationships/slide" Target="/ppt/slides/slide1.xml" Id="Rf01b83221a504eb4" /><Relationship Type="http://schemas.openxmlformats.org/officeDocument/2006/relationships/slide" Target="/ppt/slides/slide2.xml" Id="Re26af5116d334a26" /><Relationship Type="http://schemas.openxmlformats.org/officeDocument/2006/relationships/slide" Target="/ppt/slides/slide3.xml" Id="R23b9a5c67a2e45a8" /><Relationship Type="http://schemas.openxmlformats.org/officeDocument/2006/relationships/slide" Target="/ppt/slides/slide4.xml" Id="R5daafb62c34b4b37" /><Relationship Type="http://schemas.openxmlformats.org/officeDocument/2006/relationships/slide" Target="/ppt/slides/slide5.xml" Id="R0a31415032304e1e" /><Relationship Type="http://schemas.openxmlformats.org/officeDocument/2006/relationships/slide" Target="/ppt/slides/slide6.xml" Id="R029b3fbc7f0942bc" /><Relationship Type="http://schemas.openxmlformats.org/officeDocument/2006/relationships/slide" Target="/ppt/slides/slide7.xml" Id="R7d56381ce66f4759" /><Relationship Type="http://schemas.openxmlformats.org/officeDocument/2006/relationships/slide" Target="/ppt/slides/slide8.xml" Id="Rde964188524745ab" /><Relationship Type="http://schemas.openxmlformats.org/officeDocument/2006/relationships/slide" Target="/ppt/slides/slide9.xml" Id="R4ce8ece09a40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e7be9c38e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27e6bfa9d4a26" /><Relationship Type="http://schemas.openxmlformats.org/officeDocument/2006/relationships/notesMaster" Target="/ppt/notesMasters/notesMaster1.xml" Id="R6d2f0b9b69dd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34a94a89b24c76" /><Relationship Type="http://schemas.openxmlformats.org/officeDocument/2006/relationships/notesMaster" Target="/ppt/notesMasters/notesMaster1.xml" Id="R15b0c898d65446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aaf9939f0e4948" /><Relationship Type="http://schemas.openxmlformats.org/officeDocument/2006/relationships/notesMaster" Target="/ppt/notesMasters/notesMaster1.xml" Id="Rf10b841c9b9a49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5fafe86a30454b" /><Relationship Type="http://schemas.openxmlformats.org/officeDocument/2006/relationships/notesMaster" Target="/ppt/notesMasters/notesMaster1.xml" Id="R495107ef843147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ca024915844d9" /><Relationship Type="http://schemas.openxmlformats.org/officeDocument/2006/relationships/notesMaster" Target="/ppt/notesMasters/notesMaster1.xml" Id="Re0a0732734594e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77499b2ba74abd" /><Relationship Type="http://schemas.openxmlformats.org/officeDocument/2006/relationships/notesMaster" Target="/ppt/notesMasters/notesMaster1.xml" Id="R709904489a374a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958627a294f2d" /><Relationship Type="http://schemas.openxmlformats.org/officeDocument/2006/relationships/notesMaster" Target="/ppt/notesMasters/notesMaster1.xml" Id="R2a1a4e5ea20747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db39054724607" /><Relationship Type="http://schemas.openxmlformats.org/officeDocument/2006/relationships/notesMaster" Target="/ppt/notesMasters/notesMaster1.xml" Id="Rf12862f52e64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8266ed0d8643f2" /><Relationship Type="http://schemas.openxmlformats.org/officeDocument/2006/relationships/notesMaster" Target="/ppt/notesMasters/notesMaster1.xml" Id="R1ba09152a539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저희는 주거복지 내비게이터를 제안합니다.</a:t>
            </a:r>
          </a:p>
          <a:p xmlns:a="http://schemas.openxmlformats.org/drawingml/2006/main">
            <a:r>
              <a:t>이 서비스는 당첨을 예측하거나 자격을 확정하지 않고, 공식 공고를 사용자 조건에 맞게 구조화해 신청 전 우선순위를 안내합니다.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문제는 정보가 없다는 것이 아닙니다.</a:t>
            </a:r>
          </a:p>
          <a:p xmlns:a="http://schemas.openxmlformats.org/drawingml/2006/main">
            <a:r>
              <a:t>마이홈, LH청약플러스, 지자체 포털에는 정보가 많지만 사용자는 본인 조건을 공고문에 직접 대입해야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주거비 부담은 OECD 자료와 국내 기사에서 계속 다뤄지는 문제입니다.</a:t>
            </a:r>
          </a:p>
          <a:p xmlns:a="http://schemas.openxmlformats.org/drawingml/2006/main">
            <a:r>
              <a:t>동시에 마이홈과 LH청약플러스 같은 공식 인프라가 이미 있으므로, 저희는 이를 대체하지 않고 사용자 조건별 해석 레이어를 제안합니다.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청년 1인가구가 공고를 찾는 상황을 기준으로 데모합니다.</a:t>
            </a:r>
          </a:p>
          <a:p xmlns:a="http://schemas.openxmlformats.org/drawingml/2006/main">
            <a:r>
              <a:t>기존에는 여러 단계를 사용자가 직접 오가야 하지만, 저희 화면에서는 사전 점검 흐름으로 묶습니다.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AI는 공고문을 읽기 쉬운 구조로 바꾸는 역할입니다.</a:t>
            </a:r>
          </a:p>
          <a:p xmlns:a="http://schemas.openxmlformats.org/drawingml/2006/main">
            <a:r>
              <a:t>추천과 점수는 공개 기준과 규칙 기반으로 설명 가능하게 만들고, 팀은 8개 역할로 병렬 운영합니다.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화면은 조건 입력과 추천 결과가 함께 보입니다.</a:t>
            </a:r>
          </a:p>
          <a:p xmlns:a="http://schemas.openxmlformats.org/drawingml/2006/main">
            <a:r>
              <a:t>공고 카드에는 출처, 예시 모집기간, 기준 확인 항목, 주의 조건, 원문/신청 링크 버튼이 함께 표시되어 사용자가 다음 행동을 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점수 상세 화면은 심사에서 중요한 방어 장치입니다.</a:t>
            </a:r>
          </a:p>
          <a:p xmlns:a="http://schemas.openxmlformats.org/drawingml/2006/main">
            <a:r>
              <a:t>총점 하나가 아니라 기준별 점수와 감점 사유를 보여줘, 이 서비스가 판정 시스템이 아니라 사전 점검 도구임을 분명히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 탭은 생활 가능성을 보여주고, 근거/RAG 탭은 공고문 원문 기반 설명을 제공합니다.</a:t>
            </a:r>
          </a:p>
          <a:p xmlns:a="http://schemas.openxmlformats.org/drawingml/2006/main">
            <a:r>
              <a:t>정책 대시보드는 익명 집계로 사각지대 의심 지표를 보여주는 확장 방향입니다.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기대효과는 주거 문제를 해결한다는 식으로 과장하지 않습니다.</a:t>
            </a:r>
          </a:p>
          <a:p xmlns:a="http://schemas.openxmlformats.org/drawingml/2006/main">
            <a:r>
              <a:t>탐색 시간과 조건 확인 누락을 줄이고, 공공기관에는 미매칭 패턴을 보여주는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a253d2e43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66bf153b544d54" /><Relationship Type="http://schemas.openxmlformats.org/officeDocument/2006/relationships/slideLayout" Target="/ppt/slideLayouts/slideLayout1.xml" Id="Rce599d52736247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599d52736247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fb0fd69a44ceb" /><Relationship Type="http://schemas.openxmlformats.org/officeDocument/2006/relationships/notesSlide" Target="/ppt/notesSlides/notesSlide1.xml" Id="Rc928ca61dc17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dd05c1bf64581" /><Relationship Type="http://schemas.openxmlformats.org/officeDocument/2006/relationships/notesSlide" Target="/ppt/notesSlides/notesSlide2.xml" Id="R4434248248ff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1aa32d9b24ed8" /><Relationship Type="http://schemas.openxmlformats.org/officeDocument/2006/relationships/notesSlide" Target="/ppt/notesSlides/notesSlide3.xml" Id="R279aa9e268734a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bb41ba36f412d" /><Relationship Type="http://schemas.openxmlformats.org/officeDocument/2006/relationships/notesSlide" Target="/ppt/notesSlides/notesSlide4.xml" Id="Rd2baa4699430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e22be1f88416c" /><Relationship Type="http://schemas.openxmlformats.org/officeDocument/2006/relationships/image" Target="/ppt/media/image.png" Id="Rc0d411258d71451d" /><Relationship Type="http://schemas.openxmlformats.org/officeDocument/2006/relationships/notesSlide" Target="/ppt/notesSlides/notesSlide5.xml" Id="Rc8b5012ae51543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c588d4b64447b" /><Relationship Type="http://schemas.openxmlformats.org/officeDocument/2006/relationships/image" Target="/ppt/media/image2.png" Id="R401d896fdfd24563" /><Relationship Type="http://schemas.openxmlformats.org/officeDocument/2006/relationships/notesSlide" Target="/ppt/notesSlides/notesSlide6.xml" Id="Rfaf28d95da8040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54b6b96d24464" /><Relationship Type="http://schemas.openxmlformats.org/officeDocument/2006/relationships/image" Target="/ppt/media/image3.png" Id="R8b0cd70400a444c8" /><Relationship Type="http://schemas.openxmlformats.org/officeDocument/2006/relationships/notesSlide" Target="/ppt/notesSlides/notesSlide7.xml" Id="R49dcc828d6e943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e85ac2f424c6e" /><Relationship Type="http://schemas.openxmlformats.org/officeDocument/2006/relationships/image" Target="/ppt/media/image4.png" Id="R07517c3b7947439b" /><Relationship Type="http://schemas.openxmlformats.org/officeDocument/2006/relationships/image" Target="/ppt/media/image5.png" Id="R9e07c19d5b7b491a" /><Relationship Type="http://schemas.openxmlformats.org/officeDocument/2006/relationships/image" Target="/ppt/media/image6.png" Id="R2a6a8a0f58c04901" /><Relationship Type="http://schemas.openxmlformats.org/officeDocument/2006/relationships/notesSlide" Target="/ppt/notesSlides/notesSlide8.xml" Id="R41ad5817651842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5bfe319294458" /><Relationship Type="http://schemas.openxmlformats.org/officeDocument/2006/relationships/notesSlide" Target="/ppt/notesSlides/notesSlide9.xml" Id="R1030c77ba86349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24356-7A92-4351-88C7-AA18337E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71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2026 국토교통 서비스 발굴 경연 | 1차 심사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252E8-24A2-411E-84D5-D0B9153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주거복지</a:t>
            </a:r>
          </a:p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내비게이터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371F0-5767-42CC-95E0-A482047D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61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흩어진 주거복지 기회를 사용자 조건별 우선순위와 원문 근거로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8909A-2365-41AE-83A8-D97BB6B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42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0A445-0D5B-48DC-A491-A02C5F98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489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판정 시스템이 아니라 신청 전 사전 점검과 탐색을 돕는 의사결정 보조 서비스입니다.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0A08B-DD2E-437D-B61E-94C5231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2573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EA28F-719D-449F-94F5-B119EA13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04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DD4C-0F5F-4767-B1D2-C55CE39D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00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8BF0-7AFB-4EE2-A247-24AD3F9D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조건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038D0-9358-4D06-96AC-B253A58B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소득·자산·가구·무주택·지역·통근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D3622-0C0B-43C0-A9B3-EDA755E6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2BFC7-3A0F-4658-9F2A-B5192AB5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38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BA488-AD72-4D21-917F-1B1C13B2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337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3C813-8EBD-42F4-BB55-FD1B48F3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 매칭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3A13A-B06E-44FC-A250-13E3919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공개 공고와 제도를 같은 기준으로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62471-37D3-446E-AEAA-9527D47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163FF-3DF0-4E38-B457-6B2BAF9E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E6B18-0B06-430D-90C2-785E7EFC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6720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5FABB-2B86-49C8-BB26-2E20505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근거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10338-7085-4E7C-BE91-CE6E1FD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점수·주의조건·원문 근거·RAG 답변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D69A3-040B-4B59-95F3-720907B8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50CE5-CA8F-48C7-B22D-D964F7C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C0BDE-83D9-4C66-B853-0BAC733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대체가 아니라 보완, 판정이 아니라 사전 점검이라는 포지션을 먼저 고정합니다.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AFD69-7C12-4CEA-A863-22910A90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791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8F17A-4E1E-411A-A01F-FF512CE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문제정의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D4D2-A38B-40EC-9F30-4B5F0F9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정보가 없는 것이 아니라, 내 조건으로 해석하기 어렵습니다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055CC-8E4E-4B55-8135-9984ADB0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공식 포털과 공고는 존재하지만 사용자는 여러 사이트와 공고문을 오가며 조건을 직접 비교해야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12589-7C4E-40A0-9490-E3D452A3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857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BB2AB-80B1-4C74-9C5D-C70760FC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사용자가 직접 대입해야 하는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04011-261B-47A5-89CB-A8109A48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86C7F-AFCF-4D44-A1F0-2C18B74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718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소득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57208-5547-4811-9A70-23722857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05150"/>
            <a:ext cx="800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087C4-9FA7-42C9-B272-FA6594EB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71825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자산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A844F-CBBE-4E31-8E35-DE43DEE1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9334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8CB88-7EE8-48D7-9097-5558C876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무주택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C549D-D0D4-4582-B882-DE65A6E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E665E-39F2-4B07-82F0-53ACAEE1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718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가구 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6472D-1F4A-4882-8D91-FA014BF8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C2CF7-20CF-4C3A-8F9B-2096FFDA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290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희망 지역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BDF9E-5CB8-4405-B436-73AEDC7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1DE28-4265-44DC-95B8-53DCA919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290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청약통장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0675C-5507-483A-83DD-ED90D3C2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623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A26C3-AD93-4999-8774-B55A76C0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290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모집기간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1E2F5-77C5-4E57-BB9B-8CBA65B2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F209C-CBCD-4456-9987-CDBFB73B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86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제출서류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3A5F0-F7CB-450D-A009-9642F08E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195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E1092-C463-4097-BA36-80BBE59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86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입지·통근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4BF6E-FA6B-4E47-A701-80B17EBB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1066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F350B-3C9A-45F8-9B8A-52CB4D26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862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DC605-93DC-48EA-8C88-F7002AE4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결국 핵심 질문은</a:t>
            </a:r>
          </a:p>
          <a:p xmlns:a="http://schemas.openxmlformats.org/drawingml/2006/main">
            <a:pPr algn="l">
              <a:defRPr sz="1500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“내가 지금 무엇을 먼저 신청해야 하나?”입니다.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B489A-9E17-4E5D-9BF5-798A72BC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410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8A0AA-ECED-476E-B7FA-1E51D67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여정에서 막히는 지점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69A30-9625-4B4A-9E60-49297A35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60702E-E374-4504-846B-3BA6BC3F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 검색, 자가진단, 신청, 지도 확인이 기능별로 분리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A41DF9-3E87-4E3C-9FA8-22F719AA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998A16-708A-4C79-AD3C-2805D08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소득·자산·무주택 기준이 공고문 문장과 표 안에 흩어짐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B6DCB-D101-4202-8E5D-BB52479E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4C74CD-535F-4368-98EE-4B88D29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 확인 항목과 주의 조건을 사용자가 직접 판별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3814-A23A-4AFB-A5B7-ED45A4B9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6D5B1-1DDF-4C61-A89C-65CA865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기회 누락 또는 조건 불일치 공고 탐색 비용 발생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D22085-20A0-4AE2-8544-F8F176B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917B3A-4D6F-44B3-8F6B-6FFBBDA8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A23C6B-8C8A-4F27-81E8-3D9C226C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문제는 정보 부족이 아니라 조건 해석 비용과 공고별 우선순위 판단입니다.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094B12-8B63-47C3-9603-B2017675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3057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68434-1AA6-437B-A42E-DA38807C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근거자료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7CFBD-F94F-4B5D-8D3B-8E813B7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주거비 부담과 정보 탐색 복잡성은 현재 진행형입니다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18DEB-F39F-4AE3-AC0D-B2242F7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공식자료를 주 근거로 두고, 2026년 뉴스 검색 결과는 최근성 보조 근거로 활용합니다.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876B2-D3D2-4BD8-A30D-1431957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45389-6241-4173-94D9-C1CC03E2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4F8E4-5CED-4DE5-A69B-D8D7925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669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OECD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9382C-3D94-4B55-B00A-CECC504F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384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주거비 과부담과 affordability를 주요 정책 이슈로 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03F94-A239-42D1-B1DE-CFC719B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D1501-FBF6-47D9-8A36-DD4E9C68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04DD1-AC0E-406E-A219-8E2F8AB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마이홈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D85AB-ABFB-4490-BE70-7924053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공공주택 모집공고, 주거복지서비스, 자가진단, 지역별 검색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1CCD2-902D-491D-B66C-14941F48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C9DF2-BA99-4740-B414-32914E2F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FD383-5930-4DF9-AF44-604314B5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LH청약플러스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B4177-3CB2-4205-A279-74250E5F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719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공고문, 청약연습, 청약신청, 청약자격확인 등 단계별 기능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93D66-BCF1-4EE2-B54C-9694DD50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14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29C11-C003-4E0F-AC18-A38450A7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60A6D-E52B-4B08-8252-D3DB355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온통청년·서울주거포털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904B1-9092-4E07-A611-1001CC9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38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청년정책 검색, 상담, 지자체 주거지원이 별도 운영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0240D-74CB-4977-822E-584FBD21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6DE37-E6B2-4292-8ECD-0160A4C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5D1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15D12"/>
                </a:solidFill>
                <a:latin typeface="Malgun Gothic"/>
                <a:ea typeface="Malgun Gothic"/>
                <a:cs typeface="Malgun Gothic"/>
              </a:rPr>
              <a:t>보조 뉴스 근거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FF75E-CDCC-4968-A016-0CAFFB73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33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5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7C4E1-582D-41D3-BDAB-BEB41B7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매일경제: 청년 1분기 주거비 부담 증가 보도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889FF-A284-4987-86EB-79ABB478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5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E1597-729D-42F5-A2EE-44B2A169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브릿지경제·더팩트: 원스톱 청년주거 지원체계 필요 보도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1868E-8529-4BD7-A855-C0DBBC77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7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5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DD105-F868-42DD-873D-A9A8785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뉴스핌: 높은 집값으로 독립이 어려운 청년 이슈 보도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F142E-0F90-4CA4-A93E-5BDF8A7A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5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E24DD-F02C-4B43-B33E-28C3A7F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지자체·상담소 기사: 정책 정보 제공과 상담형 안내 수요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7D680-331A-4349-B6D6-A76A8539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F2E03-8A11-488C-9C6D-AAF0DE1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F3D94-1C04-489F-8828-80C67719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공식 인프라는 존재합니다. 그래서 우리는 대체가 아니라 연결·해석 레이어를 제안합니다.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D116A-F4C4-459D-90F3-F82EDA4A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44E92-70D8-4708-9F15-CC775F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Sources: OECD Affordable Housing, OECD Housing Prices, MyHome, LH Apply Plus, OnTong Youth, Seoul Housing Portal, Google News RSS search.</a:t>
            </a:r>
          </a:p>
        </p:txBody>
      </p:sp>
    </p:spTree>
    <p:extLst>
      <p:ext uri="{BB962C8B-B14F-4D97-AF65-F5344CB8AC3E}">
        <p14:creationId xmlns:p14="http://schemas.microsoft.com/office/powerpoint/2010/main" val="884388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51B9A-96E5-4FED-9004-5C52566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사용자 여정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8B141-FA5B-4F6D-AE18-E6D96E29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여러 사이트 탐색을 한 번의 사전 점검 흐름으로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B398B-0B97-4FFB-841F-276ECDAD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청년 1인가구가 공개 공고를 검토하는 상황을 기준으로 발표 데모를 구성했습니다.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D95A6-7A40-43A4-B60F-F01BED06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714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6F8CC-5003-4F10-A8B1-827BBFB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2E5AE-1F44-4138-B08E-5C2E500D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16DD4-FC20-4212-8BA2-8555E4B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5A7EF-47AA-4A09-9585-1FC3714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마이홈·LH·지자체 포털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585E0-99BF-4CE2-890B-ED9A42AD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52750"/>
            <a:ext cx="3238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3BBC7-F5AF-46C3-8104-F69CD467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714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BE3B1-3DE4-4AD7-BD72-1F880934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88E69-5F02-4746-827D-A672CBC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1E039-A9E3-4B47-B9F9-0F03A8D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공고문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25096-067B-47A7-943C-4F94B2C2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576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PDF/HWP/HTML의 조건표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09CB2-4079-4B9C-ACD2-456266D6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3238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FA065-D313-4B41-A13D-17A6AFE8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1714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F4D00-80C8-4628-B1D3-F897981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5D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9B686-E71A-41BE-8940-7B8BF1DC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E5147-BDA5-4DB7-83DC-8F77A27B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내 조건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6666E-217F-4984-9957-0BD8140E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576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소득·자산·무주택·서류 직접 대입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B8624-9DB6-488E-A3B5-40DC7854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3238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98925-E0FB-4666-AE4E-1E182290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714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C0F61-0551-4139-BF83-738828BB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4BAF2-1E54-4019-96E0-456DDDC9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A38F1-9522-4FF6-9208-FC8FE75C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입지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94869-F7FE-4129-BC85-521D02B1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통근·생활SOC·주변 시세 별도 탐색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DCED12-B899-4481-AB77-CC86A3CC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3238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B99E8-8CCD-4DFC-80A2-9E982AC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714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31C1A-CB8F-4492-B0A1-586357E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86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1332A2-209C-4321-B8B4-C51495A9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813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F4115-4426-458D-A28F-4EF295D6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신청 준비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34DE2-DA47-443E-B61C-ECDB04CB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371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원문 링크와 제출서류 최종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24E8F0-A851-492B-AA0F-79FDBBD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1AC3A-78AB-4533-9397-DD478A2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67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15D1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15D12"/>
                </a:solidFill>
                <a:latin typeface="Malgun Gothic"/>
                <a:ea typeface="Malgun Gothic"/>
                <a:cs typeface="Malgun Gothic"/>
              </a:rPr>
              <a:t>발표 데모의 목표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CA49F3-FD20-4D78-B8B5-B7F4163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조건 입력 → 추천 공고 → 점수 상세 → 지도 입지 → 공고문 근거/RAG → 정책 대시보드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E146F5-DB75-4929-ADC7-37D97789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401651-9504-4467-BBF9-5D8B6D04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18F11-B439-4930-9C88-1B626E8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데모는 사용자가 실제로 막히는 순서 그대로 보여줍니다.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F6A8A-A255-4177-B25B-D3A29948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112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F71AF4-E166-4FC5-8634-43C366E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해결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CEDC1-73AC-40CC-9262-9B59A809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AI는 공고문을 구조화하고, 추천은 공개 기준과 규칙으로 설명합니다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A498D-6D27-412D-99B3-25073B5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환각과 책임 문제를 줄이기 위해 자유 판정보다 원문 근거, 구조화 데이터, 규칙 기반 점수화를 앞세웁니다.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C3657-4874-436B-B24B-D6213D3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096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411258d71451d"/>
          <a:stretch xmlns:a="http://schemas.openxmlformats.org/drawingml/2006/main"/>
        </p:blipFill>
        <p:spPr>
          <a:xfrm xmlns:a="http://schemas.openxmlformats.org/drawingml/2006/main">
            <a:off x="2405134" y="2419350"/>
            <a:ext cx="2657331" cy="2724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DD566-8BA7-4F65-B3D9-1528001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9800"/>
            <a:ext cx="4381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724D0-882E-44C8-B351-9D2FE532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8인 팀 병렬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4A5BD-FFC8-4770-83A9-9C020967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0D4EC-AFF5-44DA-8827-FF08F8D6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데이터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9966B-7189-4525-A811-08815ABD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1450A-5055-4159-85E4-957EF752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데이터 엔지니어링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C0BD5-3303-4D7A-868E-587D1945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62425-8493-4ED4-B0E5-9C4DEBA1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AI 공고문 추출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83D28-7387-45C4-90E6-B0E8BDCA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0520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E8F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0FC6C-71DF-407D-BE32-B6CD1A0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718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백엔드·점수화 엔진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F1319-A3A3-4769-9502-2923F64E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EAF0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79313-0A0F-4889-87E5-8268E54A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61BE2-486B-4A8A-929B-EC087CE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EAF0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1308E-AD28-4BD4-9114-219A2C7C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481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지도·시각화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B67B4-CC33-470C-A0B3-267A9BD1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EAF0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3FFC5-3D89-47E5-92DA-17CBEE49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D84A9-66FD-47C0-8AFE-5A405EE1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EAF0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F9E26-1721-4D9A-90C7-D2C25A5B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243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기획·발표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35549-0C2F-40DF-8CF4-0A43069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MVP는 공고 수집·조건 입력·기본 매칭부터 완성하고, 점수 설명·지도·RAG·정책 대시보드를 단계적으로 확장합니다.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F994E-2880-4962-A8EC-1A4A82F2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DD760-8162-4FCC-B961-FA1481B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8EE48-3365-4CDF-9AD2-729D9EF1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기능을 한 번에 과장하지 않고 MVP와 확장 기능을 분리해 실현 가능성을 방어합니다.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29D6D-2579-4BE5-B405-FBA360B8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A4B68-328B-4048-9F73-8A4097DA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Application source: participant application workflow image.</a:t>
            </a:r>
          </a:p>
        </p:txBody>
      </p:sp>
    </p:spTree>
    <p:extLst>
      <p:ext uri="{BB962C8B-B14F-4D97-AF65-F5344CB8AC3E}">
        <p14:creationId xmlns:p14="http://schemas.microsoft.com/office/powerpoint/2010/main" val="1537583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8C5E7-F23E-4C98-AD1D-59F03C5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프로토타입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7F483-B0D1-4B2C-AC13-C054E65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조건 입력과 종합 매칭 결과를 첫 화면에서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2DA29-55F9-45A1-8E57-D4B60A4C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첫 화면에서 서비스의 본질인 조건 기반 공고 매칭과 주의 조건이 바로 보이도록 구성했습니다.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45327-4F5C-48ED-8F49-8506619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9913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d896fdfd24563"/>
          <a:stretch xmlns:a="http://schemas.openxmlformats.org/drawingml/2006/main"/>
        </p:blipFill>
        <p:spPr>
          <a:xfrm xmlns:a="http://schemas.openxmlformats.org/drawingml/2006/main">
            <a:off x="2795302" y="2400300"/>
            <a:ext cx="2772347" cy="2800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1B043-A8D7-4643-9C86-8B1B837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4861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DC507-1A96-4E95-9E89-005833BA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심사자가 봐야 할 포인트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E6273-B8C3-438B-A14A-565A348D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3FBC2-59B9-4975-80F0-31BD5C6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신청서의 입력 조건이 실제 폼으로 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3E3F5-A347-4C6F-A336-CB8814EB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2DA8D-F35D-4394-81BE-AE556E0B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공개 공고와 제도를 같은 기준으로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CA84F-40CE-4CA9-BC6E-A43C336C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86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B10BF-2599-4C40-8923-EE985C7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 확인 항목과 주의 조건을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0D6CE-37EF-4435-8B85-0D55E2F3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1CD04-5433-46A4-A8AF-94765E09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457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당첨 확률이 아닌 적합도 점수로 표현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F7568-CFF7-4E11-B2C7-51E73697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8C434-323A-488C-890B-D5B734DA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22096-738D-4D13-BA55-EA937E9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총점보다 중요한 것은 왜 이 공고가 먼저 보이는지 설명하는 구조입니다.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D8D36-BCBD-44AA-8ECC-9E8906CC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02F6F-8173-45CF-B479-D9CC2D7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Local prototype screenshot: outputs/prototype_ppt_dashboard_crop.png</a:t>
            </a:r>
          </a:p>
        </p:txBody>
      </p:sp>
    </p:spTree>
    <p:extLst>
      <p:ext uri="{BB962C8B-B14F-4D97-AF65-F5344CB8AC3E}">
        <p14:creationId xmlns:p14="http://schemas.microsoft.com/office/powerpoint/2010/main" val="494769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A330D-9096-476B-8490-E6F84C80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프로토타입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C6E3-AD46-4D46-AA12-5F2EAF2E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가능/불가능 단정 대신 공고별 기준 점수를 분해합니다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8921F-AD55-4E78-A36E-99E6B4BD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자격, 공고, 입지, 부담 완화, 신청 부담, 준비 용이성을 나눠 보여줘서 점수화의 설명 가능성을 높입니다.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D73DE-8C50-4690-AFD9-5D0CE2F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23900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cd70400a444c8"/>
          <a:stretch xmlns:a="http://schemas.openxmlformats.org/drawingml/2006/main"/>
        </p:blipFill>
        <p:spPr>
          <a:xfrm xmlns:a="http://schemas.openxmlformats.org/drawingml/2006/main">
            <a:off x="2910055" y="2400300"/>
            <a:ext cx="2790490" cy="2800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791F2-9462-4BA0-AED3-8DD1D74A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2575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A526C-EC38-4010-8C40-BA424B23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방어 포인트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F5282-9596-41E5-A6F3-295381E8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77EDE-EF9D-4E4F-940E-872AAF70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점수는 당첨 확률이 아니라 기준 부합도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0A9CC-519B-42F7-94F8-DC5580FF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63F9-A2AF-48B1-8198-9DCFF22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33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공고문 기준과 사용자 조건을 항목별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737F1-E790-49EE-8A56-5710CB93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86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B4100-435E-4BF5-BDE8-C0A15F76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감점·주의 사유를 숨기지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4D0E6-7652-4A4D-9BFB-CE3C7C4B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48791-73E5-429A-8160-C3854F59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577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최종 신청은 원문 공고와 기관 심사 기준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0EF55-734C-4B12-8010-19836A1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9D96-62EA-48F9-892A-1D3273A3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6A1E9-58AE-4A36-A911-4BB17151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심사자가 점수 임의성을 묻기 전에 기준별 분해 화면으로 먼저 방어합니다.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6DB6-B94E-46E5-885E-09CF9944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B02A4-E602-4769-88DD-7CA437F3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Local prototype screenshot: outputs/prototype_ppt_detail_crop.png</a:t>
            </a:r>
          </a:p>
        </p:txBody>
      </p:sp>
    </p:spTree>
    <p:extLst>
      <p:ext uri="{BB962C8B-B14F-4D97-AF65-F5344CB8AC3E}">
        <p14:creationId xmlns:p14="http://schemas.microsoft.com/office/powerpoint/2010/main" val="1938980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5B64B-4BB3-4A4E-9415-D68BE1F2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프로토타입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0088F-ED86-42AC-B04D-68C0572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지도, 원문 근거, RAG, 정책 대시보드까지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97E7E-9CE3-48F0-9BFF-73B29B81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개인 신청 보조에서 끝나지 않고, 익명·집계 지표로 정책 사각지대 탐색까지 확장합니다.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582A2-5730-4FDD-B9DD-E6BA3DC3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17c3b7947439b"/>
          <a:stretch xmlns:a="http://schemas.openxmlformats.org/drawingml/2006/main"/>
        </p:blipFill>
        <p:spPr>
          <a:xfrm xmlns:a="http://schemas.openxmlformats.org/drawingml/2006/main">
            <a:off x="838200" y="2563470"/>
            <a:ext cx="2971800" cy="15786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45F51-D21E-4536-A9AF-EA291F2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지도 입지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AABCB-73A1-4102-BA47-36A8D18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통근·생활SOC·주변 시세를 함께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909B9-2C90-49C8-8B85-3F6CBDB8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32766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7c19d5b7b491a"/>
          <a:stretch xmlns:a="http://schemas.openxmlformats.org/drawingml/2006/main"/>
        </p:blipFill>
        <p:spPr>
          <a:xfrm xmlns:a="http://schemas.openxmlformats.org/drawingml/2006/main">
            <a:off x="4572000" y="2741988"/>
            <a:ext cx="2971800" cy="122162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7CE40-E49D-4E3B-8FE9-7A2F542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공고문 근거 +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C4B21-FBE2-4F43-A9B7-FAAFA15C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출처 기반 답변으로 AI 환각 위험 통제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A6BBB-3B35-4AC5-8E38-EAE01A74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2766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a8a0f58c04901"/>
          <a:stretch xmlns:a="http://schemas.openxmlformats.org/drawingml/2006/main"/>
        </p:blipFill>
        <p:spPr>
          <a:xfrm xmlns:a="http://schemas.openxmlformats.org/drawingml/2006/main">
            <a:off x="8305800" y="2829497"/>
            <a:ext cx="2971800" cy="1046606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1AD40-E430-41D3-BCD8-1BB1B7FD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정책 대시보드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F150E-4E28-432A-97A5-10F8009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8630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수요는 높지만 공급·신청 연결이 약한 영역 탐색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573FB-C3E4-4E0B-8296-38EF56F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E9DB7-B2E9-411D-A5C4-B1CEE8B7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09189-A0E2-4C4B-AE20-9FD7156F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개인에게는 신청 전 우선순위, 공공에는 미매칭 패턴 탐색이라는 두 효과를 보여줍니다.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4A407-A65C-4448-9ECF-D0A47BB1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70C2A-3354-4351-B297-2D12BE7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Local prototype screenshots: map, evidence, policy views.</a:t>
            </a:r>
          </a:p>
        </p:txBody>
      </p:sp>
    </p:spTree>
    <p:extLst>
      <p:ext uri="{BB962C8B-B14F-4D97-AF65-F5344CB8AC3E}">
        <p14:creationId xmlns:p14="http://schemas.microsoft.com/office/powerpoint/2010/main" val="317446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F671E-62BD-496C-8B8A-7AD66077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기대효과와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8E6A-71CC-4155-AA68-5FA613B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주거 문제 해결을 과장하지 않고, 검증 가능한 효과로 말합니다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7B7FC-602B-417F-A383-1C939AFD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탐색 시간 감소, 조건 확인 누락 감소, 상담 전 자가점검 강화, 정책 미매칭 패턴 파악을 목표로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7231C-9380-4846-B055-E21D08A9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766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3D6F4-2786-4468-805D-180294B5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국민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799EB-0BDA-4644-B0B4-C0295831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공고 탐색 시간 감소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신청 가능한 공고 누락 감소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서류·조건 사전 점검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B38C3-4DA5-42F3-8842-7F6D3BB2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2766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8A396-579C-4702-86CE-720EFBA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공공기관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6D129-8C70-43D1-A1D1-A0F91FAF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공개 공고 데이터 활용도 증가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반복 민원·중복 탐색 부담 완화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원문 근거 기반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12ED9-10E4-4EAB-A55E-0DBF9B4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2766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6870E-1953-45DE-82A2-E0A1706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5D1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A15D12"/>
                </a:solidFill>
                <a:latin typeface="Malgun Gothic"/>
                <a:ea typeface="Malgun Gothic"/>
                <a:cs typeface="Malgun Gothic"/>
              </a:rPr>
              <a:t>지자체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92711-C572-4174-8A7C-C74F2544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지역·계층별 미매칭 패턴 파악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공급 부족·정보 이탈 의심 영역 탐색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정책 개선 지표 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63C1F-DB1F-4CCB-AB7C-D982061C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8915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A9532-09D6-47CC-B36B-A1686F15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흩어진 주거복지 기회를 사용자 조건별 우선순위와 원문 근거로 연결하겠습니다.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8E804-CB5D-4A7F-945E-8BE54A7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99812-E948-4825-ADF1-15F231DC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6B57"/>
                </a:solidFill>
                <a:latin typeface="Malgun Gothic"/>
                <a:ea typeface="Malgun Gothic"/>
                <a:cs typeface="Malgun Gothic"/>
              </a:rPr>
              <a:t>발표 메모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11639-B23F-48AD-B7FA-333C2181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48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8493E"/>
                </a:solidFill>
                <a:latin typeface="Malgun Gothic"/>
                <a:ea typeface="Malgun Gothic"/>
                <a:cs typeface="Malgun Gothic"/>
              </a:rPr>
              <a:t>마지막 문장은 외우기: 흩어진 기회를 조건별 우선순위와 원문 근거로 연결합니다.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23075-BB2D-48CA-8F54-D8318A6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D2E28-5887-4510-B6EC-6EED516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52616B"/>
                </a:solidFill>
                <a:latin typeface="Malgun Gothic"/>
                <a:ea typeface="Malgun Gothic"/>
                <a:cs typeface="Malgun Gothic"/>
              </a:rPr>
              <a:t>Submission schedule: 2026.07.13 materials, 2026.07.15 first review.</a:t>
            </a:r>
          </a:p>
        </p:txBody>
      </p:sp>
    </p:spTree>
    <p:extLst>
      <p:ext uri="{BB962C8B-B14F-4D97-AF65-F5344CB8AC3E}">
        <p14:creationId xmlns:p14="http://schemas.microsoft.com/office/powerpoint/2010/main" val="516804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2026-07-07T03:19:42.4210000Z</dcterms:created>
  <dcterms:modified xsi:type="dcterms:W3CDTF">2026-07-07T03:19:42.4210000Z</dcterms:modified>
</coreProperties>
</file>